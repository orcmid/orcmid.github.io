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6" autoAdjust="0"/>
    <p:restoredTop sz="94660"/>
  </p:normalViewPr>
  <p:slideViewPr>
    <p:cSldViewPr snapToGrid="0">
      <p:cViewPr varScale="1">
        <p:scale>
          <a:sx n="88" d="100"/>
          <a:sy n="88" d="100"/>
        </p:scale>
        <p:origin x="96" y="5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5DD87-E59F-4DE2-B0E1-8C9FBB34EE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4A6BF0-F94C-45C7-89AF-1B88A59001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8BDD52-AACA-46AC-8322-B8B78AC0F8FD}"/>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5" name="Footer Placeholder 4">
            <a:extLst>
              <a:ext uri="{FF2B5EF4-FFF2-40B4-BE49-F238E27FC236}">
                <a16:creationId xmlns:a16="http://schemas.microsoft.com/office/drawing/2014/main" id="{AC088B52-1791-483D-89FC-547D5B693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87D8E-90AF-47F5-BD96-10C7B64C72FE}"/>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1780981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15BAB-7B0F-4F7B-9DF4-73143DC553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733629-481F-4691-B9E7-85D441BC52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80F834-E6F7-4863-BADB-C95192D3D35C}"/>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5" name="Footer Placeholder 4">
            <a:extLst>
              <a:ext uri="{FF2B5EF4-FFF2-40B4-BE49-F238E27FC236}">
                <a16:creationId xmlns:a16="http://schemas.microsoft.com/office/drawing/2014/main" id="{5346B48F-4994-42D6-902C-8EA79F60BA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A3BC9C-4148-4B3B-BE64-80798AF66D63}"/>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826302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9D41-E0C3-4EB4-909C-DC71E09C69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25973B8-6F0D-4002-8ABC-03538A87CF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3921C0-B8A7-4ABA-9C23-695E10B10787}"/>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5" name="Footer Placeholder 4">
            <a:extLst>
              <a:ext uri="{FF2B5EF4-FFF2-40B4-BE49-F238E27FC236}">
                <a16:creationId xmlns:a16="http://schemas.microsoft.com/office/drawing/2014/main" id="{9DD60D8C-A307-4E68-947C-283FCD34B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F32D5C-A2F4-45A6-B39F-A346BB676C8D}"/>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3002763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FF6EA-756A-4CB1-AED9-914161A4CC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E64C14-20C2-40A6-8F56-C64E519BF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396B95-6B6E-436D-83FA-491809AEF0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80C152-A019-49D9-AE91-E2D6F6205B47}"/>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6" name="Footer Placeholder 5">
            <a:extLst>
              <a:ext uri="{FF2B5EF4-FFF2-40B4-BE49-F238E27FC236}">
                <a16:creationId xmlns:a16="http://schemas.microsoft.com/office/drawing/2014/main" id="{16AB5463-0EE6-4A9E-A145-27AE07197E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323E07-0064-446D-A6BC-8292D10A0A2B}"/>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3521582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F83B3-B3E4-409E-864B-73296C337A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35355C-A43C-44A8-8310-6EA63A7245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92CC95-2412-4345-BA4B-D9B40BF796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2820A4-14E2-4655-B89B-B32CC0BEBC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D8CA4F-7700-42D9-AD47-E59314B262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A4517F-CF25-43D4-A766-46A4EA61DA06}"/>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8" name="Footer Placeholder 7">
            <a:extLst>
              <a:ext uri="{FF2B5EF4-FFF2-40B4-BE49-F238E27FC236}">
                <a16:creationId xmlns:a16="http://schemas.microsoft.com/office/drawing/2014/main" id="{813F6041-A100-4AA9-B804-D17EDF1C91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86DD8C-D36B-4FB6-824B-68E617000E9A}"/>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2214758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4509B-A113-4763-832D-F623D5AC8E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063130-595C-4124-A3CB-6367962B0BF3}"/>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4" name="Footer Placeholder 3">
            <a:extLst>
              <a:ext uri="{FF2B5EF4-FFF2-40B4-BE49-F238E27FC236}">
                <a16:creationId xmlns:a16="http://schemas.microsoft.com/office/drawing/2014/main" id="{940A930B-6942-44CD-91D0-C68FC41C61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C90F74-30EF-4C08-B316-764BCD2D59D0}"/>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490107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4FCF31-8D88-46FA-82B7-49267FA7AD42}"/>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3" name="Footer Placeholder 2">
            <a:extLst>
              <a:ext uri="{FF2B5EF4-FFF2-40B4-BE49-F238E27FC236}">
                <a16:creationId xmlns:a16="http://schemas.microsoft.com/office/drawing/2014/main" id="{634D568D-F9B8-409C-AA4F-3E2D12FF7D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C8E6A0-4719-4465-848A-3B6FE4579DCE}"/>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17213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0EC75-A12F-44BB-8A58-EA961F8C2C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88CC7B-BB4D-4EFE-8283-653440FF99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31A07C-89B6-4A24-8D66-D182F5FD8A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64BE6B-FCC1-4D30-91FC-364B41538800}"/>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6" name="Footer Placeholder 5">
            <a:extLst>
              <a:ext uri="{FF2B5EF4-FFF2-40B4-BE49-F238E27FC236}">
                <a16:creationId xmlns:a16="http://schemas.microsoft.com/office/drawing/2014/main" id="{E568150E-1002-4F24-B478-B53996623D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002F3-AC94-4C94-90D4-3EB72BF1D3F5}"/>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2843794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37606-E55E-4AD7-B5A5-6C22ED54D8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1B70A0-4FE0-465E-B080-FB9CB5BBC1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746BC4-46BF-42F3-8576-709E783253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02C1BB-6A00-488E-9851-1C3026CAADC4}"/>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6" name="Footer Placeholder 5">
            <a:extLst>
              <a:ext uri="{FF2B5EF4-FFF2-40B4-BE49-F238E27FC236}">
                <a16:creationId xmlns:a16="http://schemas.microsoft.com/office/drawing/2014/main" id="{307F6868-FD5A-4346-9CD7-37E7744540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6BDEC0-6541-4B73-9C98-F8DD8D7F8E89}"/>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3469073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C8348-1971-4A82-9855-989BEC0965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DA9042-8FDF-4C01-861C-B637E2F678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C37B8D-C195-4541-80D7-7595AC3DF54E}"/>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5" name="Footer Placeholder 4">
            <a:extLst>
              <a:ext uri="{FF2B5EF4-FFF2-40B4-BE49-F238E27FC236}">
                <a16:creationId xmlns:a16="http://schemas.microsoft.com/office/drawing/2014/main" id="{44135FBA-1223-4755-B84D-C024E410B5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F8C98C-EAA1-4169-B2BA-7371AA2A1730}"/>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473105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818E1-A8DE-433C-8055-CCBC2C2179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0A1446-2547-4002-96DF-E5C4A088EC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972-071C-4538-83DC-19C55A0EB1CC}"/>
              </a:ext>
            </a:extLst>
          </p:cNvPr>
          <p:cNvSpPr>
            <a:spLocks noGrp="1"/>
          </p:cNvSpPr>
          <p:nvPr>
            <p:ph type="dt" sz="half" idx="10"/>
          </p:nvPr>
        </p:nvSpPr>
        <p:spPr/>
        <p:txBody>
          <a:bodyPr/>
          <a:lstStyle/>
          <a:p>
            <a:fld id="{1E5F1BC0-DF23-4262-A131-10033883C013}" type="datetimeFigureOut">
              <a:rPr lang="en-US" smtClean="0"/>
              <a:t>2022-07-29</a:t>
            </a:fld>
            <a:endParaRPr lang="en-US"/>
          </a:p>
        </p:txBody>
      </p:sp>
      <p:sp>
        <p:nvSpPr>
          <p:cNvPr id="5" name="Footer Placeholder 4">
            <a:extLst>
              <a:ext uri="{FF2B5EF4-FFF2-40B4-BE49-F238E27FC236}">
                <a16:creationId xmlns:a16="http://schemas.microsoft.com/office/drawing/2014/main" id="{006436ED-5B73-48F9-8FCC-CF19CA91C1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2CEC91-CF3C-4536-B46C-E40AEF1C9BF8}"/>
              </a:ext>
            </a:extLst>
          </p:cNvPr>
          <p:cNvSpPr>
            <a:spLocks noGrp="1"/>
          </p:cNvSpPr>
          <p:nvPr>
            <p:ph type="sldNum" sz="quarter" idx="12"/>
          </p:nvPr>
        </p:nvSpPr>
        <p:spPr/>
        <p:txBody>
          <a:bodyPr/>
          <a:lstStyle/>
          <a:p>
            <a:fld id="{DC717F2D-8DF0-44C4-A4F4-ED34080F11FC}" type="slidenum">
              <a:rPr lang="en-US" smtClean="0"/>
              <a:t>‹#›</a:t>
            </a:fld>
            <a:endParaRPr lang="en-US"/>
          </a:p>
        </p:txBody>
      </p:sp>
    </p:spTree>
    <p:extLst>
      <p:ext uri="{BB962C8B-B14F-4D97-AF65-F5344CB8AC3E}">
        <p14:creationId xmlns:p14="http://schemas.microsoft.com/office/powerpoint/2010/main" val="215964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2B5A5-9269-4EDF-9211-7F72CA81B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B99619-DC1B-4D0F-8930-75381463B8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332C87-BF82-4C2A-B52F-19EFE89577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5F1BC0-DF23-4262-A131-10033883C013}" type="datetimeFigureOut">
              <a:rPr lang="en-US" smtClean="0"/>
              <a:t>2022-07-29</a:t>
            </a:fld>
            <a:endParaRPr lang="en-US"/>
          </a:p>
        </p:txBody>
      </p:sp>
      <p:sp>
        <p:nvSpPr>
          <p:cNvPr id="5" name="Footer Placeholder 4">
            <a:extLst>
              <a:ext uri="{FF2B5EF4-FFF2-40B4-BE49-F238E27FC236}">
                <a16:creationId xmlns:a16="http://schemas.microsoft.com/office/drawing/2014/main" id="{E87F1C73-55E5-4C72-B9F5-90487B92FC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EFECBB-8C13-4BE1-AE23-29F04D6638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717F2D-8DF0-44C4-A4F4-ED34080F11FC}" type="slidenum">
              <a:rPr lang="en-US" smtClean="0"/>
              <a:t>‹#›</a:t>
            </a:fld>
            <a:endParaRPr lang="en-US"/>
          </a:p>
        </p:txBody>
      </p:sp>
    </p:spTree>
    <p:extLst>
      <p:ext uri="{BB962C8B-B14F-4D97-AF65-F5344CB8AC3E}">
        <p14:creationId xmlns:p14="http://schemas.microsoft.com/office/powerpoint/2010/main" val="1544704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ennis.hamilton@acm.or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ED632-087C-4478-9054-6D6497222464}"/>
              </a:ext>
            </a:extLst>
          </p:cNvPr>
          <p:cNvSpPr>
            <a:spLocks noGrp="1"/>
          </p:cNvSpPr>
          <p:nvPr>
            <p:ph type="ctrTitle"/>
          </p:nvPr>
        </p:nvSpPr>
        <p:spPr>
          <a:xfrm>
            <a:off x="1524000" y="671988"/>
            <a:ext cx="9244084" cy="1516042"/>
          </a:xfrm>
        </p:spPr>
        <p:txBody>
          <a:bodyPr>
            <a:normAutofit fontScale="90000"/>
          </a:bodyPr>
          <a:lstStyle/>
          <a:p>
            <a:r>
              <a:rPr lang="en-US" sz="4400" b="1" dirty="0"/>
              <a:t>Logic for CS Undergraduates: A Sketch</a:t>
            </a:r>
            <a:br>
              <a:rPr lang="en-US" sz="4400" dirty="0"/>
            </a:br>
            <a:br>
              <a:rPr lang="en-US" sz="4400" dirty="0"/>
            </a:br>
            <a:r>
              <a:rPr lang="en-US" sz="2200" i="1" dirty="0"/>
              <a:t>Informal Formality - Distinguishing Mathematical, Computational, and the “Natural”</a:t>
            </a:r>
            <a:endParaRPr lang="en-US" sz="4400" i="1" dirty="0"/>
          </a:p>
        </p:txBody>
      </p:sp>
      <p:sp>
        <p:nvSpPr>
          <p:cNvPr id="3" name="Subtitle 2">
            <a:extLst>
              <a:ext uri="{FF2B5EF4-FFF2-40B4-BE49-F238E27FC236}">
                <a16:creationId xmlns:a16="http://schemas.microsoft.com/office/drawing/2014/main" id="{D22A12ED-887F-4197-91B5-383CDB2DD2C9}"/>
              </a:ext>
            </a:extLst>
          </p:cNvPr>
          <p:cNvSpPr>
            <a:spLocks noGrp="1"/>
          </p:cNvSpPr>
          <p:nvPr>
            <p:ph type="subTitle" idx="1"/>
          </p:nvPr>
        </p:nvSpPr>
        <p:spPr>
          <a:xfrm>
            <a:off x="1624084" y="2362200"/>
            <a:ext cx="9144000" cy="4386943"/>
          </a:xfrm>
        </p:spPr>
        <p:txBody>
          <a:bodyPr/>
          <a:lstStyle/>
          <a:p>
            <a:pPr marL="457200" indent="-457200" algn="l">
              <a:buFont typeface="+mj-lt"/>
              <a:buAutoNum type="arabicPeriod"/>
            </a:pPr>
            <a:r>
              <a:rPr lang="en-US" dirty="0"/>
              <a:t>Deduction: Propositional Logic and Truth-Value Semantics</a:t>
            </a:r>
          </a:p>
          <a:p>
            <a:pPr marL="457200" indent="-457200" algn="l">
              <a:buFont typeface="+mj-lt"/>
              <a:buAutoNum type="arabicPeriod"/>
            </a:pPr>
            <a:r>
              <a:rPr lang="en-US" dirty="0"/>
              <a:t>First-Order Logic for Novices: FOL, FOL=, Equational Mostly</a:t>
            </a:r>
          </a:p>
          <a:p>
            <a:pPr marL="457200" indent="-457200" algn="l">
              <a:buFont typeface="+mj-lt"/>
              <a:buAutoNum type="arabicPeriod"/>
            </a:pPr>
            <a:r>
              <a:rPr lang="en-US" dirty="0"/>
              <a:t>First-Order (mostly) Structures</a:t>
            </a:r>
          </a:p>
          <a:p>
            <a:pPr marL="457200" indent="-457200" algn="l">
              <a:buFont typeface="+mj-lt"/>
              <a:buAutoNum type="arabicPeriod"/>
            </a:pPr>
            <a:r>
              <a:rPr lang="en-US" dirty="0"/>
              <a:t>Interpretations and Representations</a:t>
            </a:r>
          </a:p>
          <a:p>
            <a:pPr marL="457200" indent="-457200" algn="l">
              <a:buFont typeface="+mj-lt"/>
              <a:buAutoNum type="arabicPeriod"/>
            </a:pPr>
            <a:r>
              <a:rPr lang="en-US" dirty="0"/>
              <a:t>Computational Interpretations and Stored-Program Models</a:t>
            </a:r>
          </a:p>
          <a:p>
            <a:pPr marL="457200" indent="-457200" algn="l">
              <a:buFont typeface="+mj-lt"/>
              <a:buAutoNum type="arabicPeriod"/>
            </a:pPr>
            <a:r>
              <a:rPr lang="en-US" dirty="0"/>
              <a:t>Interpretations and Representing Worlds</a:t>
            </a:r>
          </a:p>
          <a:p>
            <a:pPr algn="l"/>
            <a:endParaRPr lang="en-US" dirty="0"/>
          </a:p>
          <a:p>
            <a:pPr algn="r"/>
            <a:r>
              <a:rPr lang="en-US" i="1" dirty="0"/>
              <a:t>Dennis E. Hamilton</a:t>
            </a:r>
            <a:r>
              <a:rPr lang="en-US" dirty="0"/>
              <a:t> for LogTeach-22, 2022-07-26</a:t>
            </a:r>
            <a:br>
              <a:rPr lang="en-US" dirty="0"/>
            </a:br>
            <a:r>
              <a:rPr lang="en-US" dirty="0">
                <a:hlinkClick r:id="rId2"/>
              </a:rPr>
              <a:t>dennis.hamilton@acm.org</a:t>
            </a:r>
            <a:r>
              <a:rPr lang="en-US" dirty="0"/>
              <a:t>; orcmid@msn.com</a:t>
            </a:r>
          </a:p>
        </p:txBody>
      </p:sp>
    </p:spTree>
    <p:extLst>
      <p:ext uri="{BB962C8B-B14F-4D97-AF65-F5344CB8AC3E}">
        <p14:creationId xmlns:p14="http://schemas.microsoft.com/office/powerpoint/2010/main" val="3781380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3EB0-50BC-4766-9FF8-FD655D7B2DCE}"/>
              </a:ext>
            </a:extLst>
          </p:cNvPr>
          <p:cNvSpPr>
            <a:spLocks noGrp="1"/>
          </p:cNvSpPr>
          <p:nvPr>
            <p:ph type="title"/>
          </p:nvPr>
        </p:nvSpPr>
        <p:spPr>
          <a:xfrm>
            <a:off x="838200" y="522515"/>
            <a:ext cx="10515600" cy="968828"/>
          </a:xfrm>
        </p:spPr>
        <p:txBody>
          <a:bodyPr>
            <a:normAutofit fontScale="90000"/>
          </a:bodyPr>
          <a:lstStyle/>
          <a:p>
            <a:pPr algn="ctr"/>
            <a:r>
              <a:rPr lang="en-US" sz="3600" b="1" i="1" dirty="0"/>
              <a:t>1. Deduction: Propositional Logic and Truth-Value Semantics</a:t>
            </a:r>
            <a:br>
              <a:rPr lang="en-US" dirty="0"/>
            </a:br>
            <a:endParaRPr lang="en-US" dirty="0"/>
          </a:p>
        </p:txBody>
      </p:sp>
      <p:sp>
        <p:nvSpPr>
          <p:cNvPr id="3" name="Content Placeholder 2">
            <a:extLst>
              <a:ext uri="{FF2B5EF4-FFF2-40B4-BE49-F238E27FC236}">
                <a16:creationId xmlns:a16="http://schemas.microsoft.com/office/drawing/2014/main" id="{83C033A4-7833-4877-BA21-E4DFFE28A996}"/>
              </a:ext>
            </a:extLst>
          </p:cNvPr>
          <p:cNvSpPr>
            <a:spLocks noGrp="1"/>
          </p:cNvSpPr>
          <p:nvPr>
            <p:ph idx="1"/>
          </p:nvPr>
        </p:nvSpPr>
        <p:spPr>
          <a:xfrm>
            <a:off x="838200" y="1491343"/>
            <a:ext cx="10515600" cy="4685620"/>
          </a:xfrm>
        </p:spPr>
        <p:txBody>
          <a:bodyPr>
            <a:normAutofit/>
          </a:bodyPr>
          <a:lstStyle/>
          <a:p>
            <a:r>
              <a:rPr lang="en-US" dirty="0"/>
              <a:t>Symbology distinguished from computation operations</a:t>
            </a:r>
          </a:p>
          <a:p>
            <a:pPr marL="457200" lvl="1" indent="0">
              <a:buNone/>
            </a:pPr>
            <a:r>
              <a:rPr lang="en-US" dirty="0" err="1"/>
              <a:t>E.g</a:t>
            </a:r>
            <a:r>
              <a:rPr lang="en-US" dirty="0"/>
              <a:t>, </a:t>
            </a:r>
            <a:r>
              <a:rPr lang="en-US" i="1" dirty="0"/>
              <a:t>p</a:t>
            </a:r>
            <a:r>
              <a:rPr lang="en-US" dirty="0"/>
              <a:t> ⇔ </a:t>
            </a:r>
            <a:r>
              <a:rPr lang="en-US" i="1" dirty="0"/>
              <a:t>q</a:t>
            </a:r>
            <a:r>
              <a:rPr lang="en-US" dirty="0"/>
              <a:t>, </a:t>
            </a:r>
            <a:r>
              <a:rPr lang="en-US" i="1" dirty="0"/>
              <a:t>p</a:t>
            </a:r>
            <a:r>
              <a:rPr lang="en-US" dirty="0"/>
              <a:t> ⇒ </a:t>
            </a:r>
            <a:r>
              <a:rPr lang="en-US" i="1" dirty="0"/>
              <a:t>q</a:t>
            </a:r>
            <a:r>
              <a:rPr lang="en-US" dirty="0"/>
              <a:t>, </a:t>
            </a:r>
            <a:r>
              <a:rPr lang="en-US" i="1" dirty="0"/>
              <a:t>p</a:t>
            </a:r>
            <a:r>
              <a:rPr lang="en-US" dirty="0"/>
              <a:t> ∨ </a:t>
            </a:r>
            <a:r>
              <a:rPr lang="en-US" i="1" dirty="0"/>
              <a:t>q</a:t>
            </a:r>
            <a:r>
              <a:rPr lang="en-US" dirty="0"/>
              <a:t>, </a:t>
            </a:r>
            <a:r>
              <a:rPr lang="en-US" i="1" dirty="0"/>
              <a:t>p</a:t>
            </a:r>
            <a:r>
              <a:rPr lang="en-US" dirty="0"/>
              <a:t> ∧ </a:t>
            </a:r>
            <a:r>
              <a:rPr lang="en-US" i="1" dirty="0"/>
              <a:t>q</a:t>
            </a:r>
            <a:r>
              <a:rPr lang="en-US" dirty="0"/>
              <a:t>, ¬ </a:t>
            </a:r>
            <a:r>
              <a:rPr lang="en-US" i="1" dirty="0"/>
              <a:t>p</a:t>
            </a:r>
          </a:p>
          <a:p>
            <a:r>
              <a:rPr lang="en-US" dirty="0"/>
              <a:t>Propositional Truth-valued semantics without constants (T &amp; F in tabulations at most)</a:t>
            </a:r>
          </a:p>
          <a:p>
            <a:r>
              <a:rPr lang="en-US" dirty="0"/>
              <a:t>Emphasize</a:t>
            </a:r>
          </a:p>
          <a:p>
            <a:pPr lvl="1"/>
            <a:r>
              <a:rPr lang="en-US" dirty="0"/>
              <a:t>Logic being about proper arguments concerning hypothetical cases, not assertion of fact (by itself)</a:t>
            </a:r>
          </a:p>
          <a:p>
            <a:pPr lvl="1"/>
            <a:r>
              <a:rPr lang="en-US" dirty="0"/>
              <a:t>How modus ponens serves as a fundamental deduction form</a:t>
            </a:r>
          </a:p>
          <a:p>
            <a:pPr lvl="1"/>
            <a:r>
              <a:rPr lang="en-US" dirty="0"/>
              <a:t>That one cannot conclude much about </a:t>
            </a:r>
            <a:r>
              <a:rPr lang="en-US" i="1" dirty="0"/>
              <a:t>p</a:t>
            </a:r>
            <a:r>
              <a:rPr lang="en-US" dirty="0"/>
              <a:t>, </a:t>
            </a:r>
            <a:r>
              <a:rPr lang="en-US" i="1" dirty="0"/>
              <a:t>q</a:t>
            </a:r>
            <a:r>
              <a:rPr lang="en-US" dirty="0"/>
              <a:t>, given only assertion of </a:t>
            </a:r>
            <a:r>
              <a:rPr lang="en-US" i="1" dirty="0"/>
              <a:t>p</a:t>
            </a:r>
            <a:r>
              <a:rPr lang="en-US" dirty="0"/>
              <a:t> ⇒ </a:t>
            </a:r>
            <a:r>
              <a:rPr lang="en-US" i="1" dirty="0"/>
              <a:t>q</a:t>
            </a:r>
          </a:p>
          <a:p>
            <a:pPr lvl="1"/>
            <a:r>
              <a:rPr lang="en-US" dirty="0"/>
              <a:t>Satisfiability and soundness, rejecting  “</a:t>
            </a:r>
            <a:r>
              <a:rPr lang="en-US" i="1" dirty="0"/>
              <a:t>p</a:t>
            </a:r>
            <a:r>
              <a:rPr lang="en-US" dirty="0"/>
              <a:t>, ¬ </a:t>
            </a:r>
            <a:r>
              <a:rPr lang="en-US" i="1" dirty="0"/>
              <a:t>p</a:t>
            </a:r>
            <a:r>
              <a:rPr lang="en-US" dirty="0"/>
              <a:t> ⊦ </a:t>
            </a:r>
            <a:r>
              <a:rPr lang="en-US" i="1" dirty="0"/>
              <a:t>p</a:t>
            </a:r>
            <a:r>
              <a:rPr lang="en-US" dirty="0"/>
              <a:t> ∧ ¬</a:t>
            </a:r>
            <a:r>
              <a:rPr lang="en-US" i="1" dirty="0"/>
              <a:t>p</a:t>
            </a:r>
            <a:r>
              <a:rPr lang="en-US" dirty="0"/>
              <a:t>”,</a:t>
            </a:r>
            <a:r>
              <a:rPr lang="en-US" i="1" dirty="0"/>
              <a:t> </a:t>
            </a:r>
            <a:r>
              <a:rPr lang="en-US" dirty="0"/>
              <a:t>other inconsistencies</a:t>
            </a:r>
          </a:p>
          <a:p>
            <a:pPr lvl="1"/>
            <a:r>
              <a:rPr lang="en-US" dirty="0"/>
              <a:t>The fixity of propositions in a chain of deductions </a:t>
            </a:r>
          </a:p>
          <a:p>
            <a:pPr lvl="1"/>
            <a:endParaRPr lang="en-US" dirty="0"/>
          </a:p>
          <a:p>
            <a:endParaRPr lang="en-US" dirty="0"/>
          </a:p>
        </p:txBody>
      </p:sp>
    </p:spTree>
    <p:extLst>
      <p:ext uri="{BB962C8B-B14F-4D97-AF65-F5344CB8AC3E}">
        <p14:creationId xmlns:p14="http://schemas.microsoft.com/office/powerpoint/2010/main" val="2418016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3EB0-50BC-4766-9FF8-FD655D7B2DCE}"/>
              </a:ext>
            </a:extLst>
          </p:cNvPr>
          <p:cNvSpPr>
            <a:spLocks noGrp="1"/>
          </p:cNvSpPr>
          <p:nvPr>
            <p:ph type="title"/>
          </p:nvPr>
        </p:nvSpPr>
        <p:spPr>
          <a:xfrm>
            <a:off x="838200" y="522515"/>
            <a:ext cx="10515600" cy="968828"/>
          </a:xfrm>
        </p:spPr>
        <p:txBody>
          <a:bodyPr>
            <a:normAutofit fontScale="90000"/>
          </a:bodyPr>
          <a:lstStyle/>
          <a:p>
            <a:pPr algn="ctr"/>
            <a:r>
              <a:rPr lang="en-US" sz="3600" b="1" i="1" dirty="0"/>
              <a:t>2. First-Order Logic for Novices: FOL, FOL=, Equational Mostly</a:t>
            </a:r>
            <a:br>
              <a:rPr lang="en-US" dirty="0"/>
            </a:br>
            <a:endParaRPr lang="en-US" dirty="0"/>
          </a:p>
        </p:txBody>
      </p:sp>
      <p:sp>
        <p:nvSpPr>
          <p:cNvPr id="3" name="Content Placeholder 2">
            <a:extLst>
              <a:ext uri="{FF2B5EF4-FFF2-40B4-BE49-F238E27FC236}">
                <a16:creationId xmlns:a16="http://schemas.microsoft.com/office/drawing/2014/main" id="{83C033A4-7833-4877-BA21-E4DFFE28A996}"/>
              </a:ext>
            </a:extLst>
          </p:cNvPr>
          <p:cNvSpPr>
            <a:spLocks noGrp="1"/>
          </p:cNvSpPr>
          <p:nvPr>
            <p:ph idx="1"/>
          </p:nvPr>
        </p:nvSpPr>
        <p:spPr>
          <a:xfrm>
            <a:off x="838200" y="1491343"/>
            <a:ext cx="10515600" cy="4685620"/>
          </a:xfrm>
        </p:spPr>
        <p:txBody>
          <a:bodyPr>
            <a:normAutofit fontScale="55000" lnSpcReduction="20000"/>
          </a:bodyPr>
          <a:lstStyle/>
          <a:p>
            <a:r>
              <a:rPr lang="en-US" sz="4400" dirty="0"/>
              <a:t>Establishing Domains of Discourse, Terms, Predicates and Quantifiers</a:t>
            </a:r>
            <a:endParaRPr lang="en-US" sz="4400" i="1" dirty="0"/>
          </a:p>
          <a:p>
            <a:r>
              <a:rPr lang="en-US" sz="4400" dirty="0"/>
              <a:t>Continue keeping it unlike programming: ∀</a:t>
            </a:r>
            <a:r>
              <a:rPr lang="en-US" sz="4400" i="1" dirty="0"/>
              <a:t>x</a:t>
            </a:r>
            <a:r>
              <a:rPr lang="en-US" sz="4400" dirty="0"/>
              <a:t>  ∃</a:t>
            </a:r>
            <a:r>
              <a:rPr lang="en-US" sz="4400" i="1" dirty="0"/>
              <a:t>y  </a:t>
            </a:r>
            <a:endParaRPr lang="en-US" sz="4400" dirty="0"/>
          </a:p>
          <a:p>
            <a:r>
              <a:rPr lang="en-US" sz="4400" dirty="0"/>
              <a:t>Classes and relations via predicates, careful with or avoid Cartesian </a:t>
            </a:r>
            <a:r>
              <a:rPr lang="en-US" sz="4400" i="1" dirty="0"/>
              <a:t>A</a:t>
            </a:r>
            <a:r>
              <a:rPr lang="en-US" sz="4400" dirty="0"/>
              <a:t> </a:t>
            </a:r>
            <a:r>
              <a:rPr lang="en-US" sz="4400" b="1" dirty="0"/>
              <a:t>×</a:t>
            </a:r>
            <a:r>
              <a:rPr lang="en-US" sz="4400" dirty="0"/>
              <a:t> </a:t>
            </a:r>
            <a:r>
              <a:rPr lang="en-US" sz="4400" i="1" dirty="0"/>
              <a:t>B</a:t>
            </a:r>
            <a:r>
              <a:rPr lang="en-US" sz="4400" dirty="0"/>
              <a:t> ?</a:t>
            </a:r>
          </a:p>
          <a:p>
            <a:r>
              <a:rPr lang="en-US" sz="4400" dirty="0"/>
              <a:t>Use FOL= and equational forms with understood ∀</a:t>
            </a:r>
            <a:r>
              <a:rPr lang="en-US" sz="4400" i="1" dirty="0"/>
              <a:t>x</a:t>
            </a:r>
            <a:r>
              <a:rPr lang="en-US" sz="4400" dirty="0"/>
              <a:t> </a:t>
            </a:r>
            <a:r>
              <a:rPr lang="en-US" sz="4400" i="1" dirty="0"/>
              <a:t>y z … </a:t>
            </a:r>
            <a:r>
              <a:rPr lang="en-US" sz="4400" dirty="0"/>
              <a:t>connecting with familiar algebraic forms and free variables</a:t>
            </a:r>
            <a:endParaRPr lang="en-US" sz="4400" i="1" dirty="0"/>
          </a:p>
          <a:p>
            <a:r>
              <a:rPr lang="en-US" sz="4400" dirty="0"/>
              <a:t>Provide axiomatic introduction of familiar forms: integer, rational domains</a:t>
            </a:r>
          </a:p>
          <a:p>
            <a:r>
              <a:rPr lang="en-US" sz="4400" b="1" dirty="0"/>
              <a:t>Introduce Boolean Algebras </a:t>
            </a:r>
            <a:r>
              <a:rPr lang="en-US" sz="4400" dirty="0"/>
              <a:t>as valuable with respect to digital representations</a:t>
            </a:r>
          </a:p>
          <a:p>
            <a:r>
              <a:rPr lang="en-US" sz="4400" dirty="0"/>
              <a:t>Non-programming notation: ⊤, ⊥, </a:t>
            </a:r>
            <a:r>
              <a:rPr lang="en-US" sz="4400" b="1" dirty="0"/>
              <a:t>∼</a:t>
            </a:r>
            <a:r>
              <a:rPr lang="en-US" sz="4400" i="1" dirty="0"/>
              <a:t>x</a:t>
            </a:r>
            <a:r>
              <a:rPr lang="en-US" sz="4400" dirty="0"/>
              <a:t>, </a:t>
            </a:r>
            <a:r>
              <a:rPr lang="en-US" sz="4400" i="1" dirty="0"/>
              <a:t>x</a:t>
            </a:r>
            <a:r>
              <a:rPr lang="en-US" sz="4400" dirty="0"/>
              <a:t> ∩ </a:t>
            </a:r>
            <a:r>
              <a:rPr lang="en-US" sz="4400" i="1" dirty="0"/>
              <a:t>y</a:t>
            </a:r>
            <a:r>
              <a:rPr lang="en-US" sz="4400" dirty="0"/>
              <a:t>, </a:t>
            </a:r>
            <a:r>
              <a:rPr lang="en-US" sz="4400" i="1" dirty="0"/>
              <a:t>x</a:t>
            </a:r>
            <a:r>
              <a:rPr lang="en-US" sz="4400" dirty="0"/>
              <a:t> ∪ </a:t>
            </a:r>
            <a:r>
              <a:rPr lang="en-US" sz="4400" i="1" dirty="0"/>
              <a:t>y</a:t>
            </a:r>
            <a:r>
              <a:rPr lang="en-US" sz="4400" dirty="0"/>
              <a:t>, </a:t>
            </a:r>
            <a:r>
              <a:rPr lang="en-US" sz="4400" i="1" dirty="0"/>
              <a:t>x</a:t>
            </a:r>
            <a:r>
              <a:rPr lang="en-US" sz="4400" dirty="0"/>
              <a:t> ∸ </a:t>
            </a:r>
            <a:r>
              <a:rPr lang="en-US" sz="4400" i="1" dirty="0"/>
              <a:t>y</a:t>
            </a:r>
            <a:r>
              <a:rPr lang="en-US" sz="4400" dirty="0"/>
              <a:t>,  </a:t>
            </a:r>
            <a:r>
              <a:rPr lang="en-US" sz="4400" i="1" dirty="0"/>
              <a:t>x</a:t>
            </a:r>
            <a:r>
              <a:rPr lang="en-US" sz="4400" dirty="0"/>
              <a:t> ⊆ </a:t>
            </a:r>
            <a:r>
              <a:rPr lang="en-US" sz="4400" i="1" dirty="0"/>
              <a:t>y</a:t>
            </a:r>
            <a:r>
              <a:rPr lang="en-US" sz="4400" dirty="0"/>
              <a:t>, </a:t>
            </a:r>
            <a:r>
              <a:rPr lang="en-US" sz="4400" i="1" dirty="0"/>
              <a:t>x </a:t>
            </a:r>
            <a:r>
              <a:rPr lang="en-US" sz="4400" dirty="0"/>
              <a:t>⊕</a:t>
            </a:r>
            <a:r>
              <a:rPr lang="en-US" sz="4400" i="1" dirty="0"/>
              <a:t> y</a:t>
            </a:r>
          </a:p>
          <a:p>
            <a:r>
              <a:rPr lang="en-US" sz="4400" dirty="0"/>
              <a:t>The correspondence of concrete Boolean algebras and one of Boolean vectors</a:t>
            </a:r>
          </a:p>
          <a:p>
            <a:r>
              <a:rPr lang="en-US" sz="4400" dirty="0"/>
              <a:t>Partial orderings</a:t>
            </a:r>
            <a:endParaRPr lang="en-US" dirty="0"/>
          </a:p>
          <a:p>
            <a:endParaRPr lang="en-US" dirty="0"/>
          </a:p>
        </p:txBody>
      </p:sp>
    </p:spTree>
    <p:extLst>
      <p:ext uri="{BB962C8B-B14F-4D97-AF65-F5344CB8AC3E}">
        <p14:creationId xmlns:p14="http://schemas.microsoft.com/office/powerpoint/2010/main" val="1464987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3EB0-50BC-4766-9FF8-FD655D7B2DCE}"/>
              </a:ext>
            </a:extLst>
          </p:cNvPr>
          <p:cNvSpPr>
            <a:spLocks noGrp="1"/>
          </p:cNvSpPr>
          <p:nvPr>
            <p:ph type="title"/>
          </p:nvPr>
        </p:nvSpPr>
        <p:spPr>
          <a:xfrm>
            <a:off x="838200" y="522515"/>
            <a:ext cx="10515600" cy="968828"/>
          </a:xfrm>
        </p:spPr>
        <p:txBody>
          <a:bodyPr>
            <a:normAutofit/>
          </a:bodyPr>
          <a:lstStyle/>
          <a:p>
            <a:pPr algn="ctr"/>
            <a:r>
              <a:rPr lang="en-US" sz="3200" b="1" i="1" dirty="0"/>
              <a:t>3. First-Order (mostly) Structures</a:t>
            </a:r>
            <a:br>
              <a:rPr lang="en-US" dirty="0"/>
            </a:br>
            <a:r>
              <a:rPr lang="en-US" sz="2400" dirty="0"/>
              <a:t>Setting up for interpretation and representation</a:t>
            </a:r>
            <a:endParaRPr lang="en-US" dirty="0"/>
          </a:p>
        </p:txBody>
      </p:sp>
      <p:sp>
        <p:nvSpPr>
          <p:cNvPr id="3" name="Content Placeholder 2">
            <a:extLst>
              <a:ext uri="{FF2B5EF4-FFF2-40B4-BE49-F238E27FC236}">
                <a16:creationId xmlns:a16="http://schemas.microsoft.com/office/drawing/2014/main" id="{83C033A4-7833-4877-BA21-E4DFFE28A996}"/>
              </a:ext>
            </a:extLst>
          </p:cNvPr>
          <p:cNvSpPr>
            <a:spLocks noGrp="1"/>
          </p:cNvSpPr>
          <p:nvPr>
            <p:ph idx="1"/>
          </p:nvPr>
        </p:nvSpPr>
        <p:spPr>
          <a:xfrm>
            <a:off x="838200" y="1491342"/>
            <a:ext cx="10515600" cy="4920343"/>
          </a:xfrm>
        </p:spPr>
        <p:txBody>
          <a:bodyPr>
            <a:normAutofit/>
          </a:bodyPr>
          <a:lstStyle/>
          <a:p>
            <a:r>
              <a:rPr lang="en-US" sz="2400" dirty="0"/>
              <a:t>Characterize structure</a:t>
            </a:r>
            <a:r>
              <a:rPr lang="en-US" sz="2400" dirty="0">
                <a:cs typeface="Lucida Sans Unicode" panose="020B0602030504020204" pitchFamily="34" charset="0"/>
              </a:rPr>
              <a:t> </a:t>
            </a:r>
            <a:r>
              <a:rPr lang="ja-JP" sz="2400" dirty="0">
                <a:effectLst/>
                <a:latin typeface="Lucida Sans Unicode" panose="020B0602030504020204" pitchFamily="34" charset="0"/>
                <a:ea typeface="Yu Mincho" panose="02020400000000000000" pitchFamily="18" charset="-128"/>
                <a:cs typeface="Lucida Sans Unicode" panose="020B0602030504020204" pitchFamily="34" charset="0"/>
              </a:rPr>
              <a:t>‹</a:t>
            </a:r>
            <a:r>
              <a:rPr lang="en-US" altLang="ja-JP" sz="2400" i="1" dirty="0">
                <a:ea typeface="Yu Mincho" panose="02020400000000000000" pitchFamily="18" charset="-128"/>
                <a:cs typeface="Lucida Sans Unicode" panose="020B0602030504020204" pitchFamily="34" charset="0"/>
              </a:rPr>
              <a:t>s</a:t>
            </a:r>
            <a:r>
              <a:rPr lang="ja-JP" sz="2400" dirty="0">
                <a:effectLst/>
                <a:latin typeface="Lucida Sans Unicode" panose="020B0602030504020204" pitchFamily="34" charset="0"/>
                <a:ea typeface="Yu Mincho" panose="02020400000000000000" pitchFamily="18" charset="-128"/>
                <a:cs typeface="Lucida Sans Unicode" panose="020B0602030504020204" pitchFamily="34" charset="0"/>
              </a:rPr>
              <a:t>›</a:t>
            </a:r>
            <a:r>
              <a:rPr lang="en-US" altLang="ja-JP" sz="2400" dirty="0">
                <a:ea typeface="Yu Mincho" panose="02020400000000000000" pitchFamily="18" charset="-128"/>
                <a:cs typeface="Lucida Sans Unicode" panose="020B0602030504020204" pitchFamily="34" charset="0"/>
              </a:rPr>
              <a:t> as</a:t>
            </a:r>
            <a:r>
              <a:rPr lang="en-US" altLang="ja-JP" sz="2400" dirty="0">
                <a:effectLst/>
                <a:ea typeface="Yu Mincho" panose="02020400000000000000" pitchFamily="18" charset="-128"/>
                <a:cs typeface="Lucida Sans Unicode" panose="020B0602030504020204" pitchFamily="34" charset="0"/>
              </a:rPr>
              <a:t> a triple, </a:t>
            </a:r>
            <a:r>
              <a:rPr lang="el-GR" sz="2400" dirty="0">
                <a:latin typeface="Lucida Sans Unicode" panose="020B0602030504020204" pitchFamily="34" charset="0"/>
                <a:cs typeface="Lucida Sans Unicode" panose="020B0602030504020204" pitchFamily="34" charset="0"/>
              </a:rPr>
              <a:t>‹</a:t>
            </a:r>
            <a:r>
              <a:rPr lang="en-US" sz="2400" i="1" dirty="0">
                <a:cs typeface="Lucida Sans Unicode" panose="020B0602030504020204" pitchFamily="34" charset="0"/>
              </a:rPr>
              <a:t>s</a:t>
            </a:r>
            <a:r>
              <a:rPr lang="el-GR" sz="2400" dirty="0">
                <a:latin typeface="Lucida Sans Unicode" panose="020B0602030504020204" pitchFamily="34" charset="0"/>
                <a:cs typeface="Lucida Sans Unicode" panose="020B0602030504020204" pitchFamily="34" charset="0"/>
              </a:rPr>
              <a:t>› = 〈</a:t>
            </a:r>
            <a:r>
              <a:rPr lang="en-US" sz="2400" i="1" dirty="0" err="1">
                <a:cs typeface="Lucida Sans Unicode" panose="020B0602030504020204" pitchFamily="34" charset="0"/>
              </a:rPr>
              <a:t>sD</a:t>
            </a:r>
            <a:r>
              <a:rPr lang="en-US" sz="2400" dirty="0">
                <a:cs typeface="Lucida Sans Unicode" panose="020B0602030504020204" pitchFamily="34" charset="0"/>
              </a:rPr>
              <a:t>, </a:t>
            </a:r>
            <a:r>
              <a:rPr lang="en-US" sz="2400" i="1" dirty="0" err="1">
                <a:cs typeface="Lucida Sans Unicode" panose="020B0602030504020204" pitchFamily="34" charset="0"/>
              </a:rPr>
              <a:t>sF</a:t>
            </a:r>
            <a:r>
              <a:rPr lang="en-US" sz="2400" dirty="0">
                <a:cs typeface="Lucida Sans Unicode" panose="020B0602030504020204" pitchFamily="34" charset="0"/>
              </a:rPr>
              <a:t>, </a:t>
            </a:r>
            <a:r>
              <a:rPr lang="en-US" sz="2400" i="1" dirty="0" err="1">
                <a:cs typeface="Lucida Sans Unicode" panose="020B0602030504020204" pitchFamily="34" charset="0"/>
              </a:rPr>
              <a:t>sT</a:t>
            </a:r>
            <a:r>
              <a:rPr lang="en-US" sz="2400" dirty="0">
                <a:latin typeface="Lucida Sans Unicode" panose="020B0602030504020204" pitchFamily="34" charset="0"/>
                <a:cs typeface="Lucida Sans Unicode" panose="020B0602030504020204" pitchFamily="34" charset="0"/>
              </a:rPr>
              <a:t>〉</a:t>
            </a:r>
          </a:p>
          <a:p>
            <a:pPr lvl="1"/>
            <a:r>
              <a:rPr lang="en-US" sz="2200" i="1" dirty="0" err="1">
                <a:cs typeface="Lucida Sans Unicode" panose="020B0602030504020204" pitchFamily="34" charset="0"/>
              </a:rPr>
              <a:t>sD</a:t>
            </a:r>
            <a:r>
              <a:rPr lang="en-US" sz="2200" dirty="0">
                <a:cs typeface="Lucida Sans Unicode" panose="020B0602030504020204" pitchFamily="34" charset="0"/>
              </a:rPr>
              <a:t>, the domain of discourse, the individuals</a:t>
            </a:r>
          </a:p>
          <a:p>
            <a:pPr lvl="1"/>
            <a:r>
              <a:rPr lang="en-US" sz="2200" i="1" dirty="0" err="1">
                <a:cs typeface="Lucida Sans Unicode" panose="020B0602030504020204" pitchFamily="34" charset="0"/>
              </a:rPr>
              <a:t>sF</a:t>
            </a:r>
            <a:r>
              <a:rPr lang="en-US" sz="2200" dirty="0">
                <a:cs typeface="Lucida Sans Unicode" panose="020B0602030504020204" pitchFamily="34" charset="0"/>
              </a:rPr>
              <a:t>, the functions (and predicates) over the domain</a:t>
            </a:r>
          </a:p>
          <a:p>
            <a:pPr lvl="1"/>
            <a:r>
              <a:rPr lang="en-US" sz="2200" i="1" dirty="0" err="1">
                <a:cs typeface="Lucida Sans Unicode" panose="020B0602030504020204" pitchFamily="34" charset="0"/>
              </a:rPr>
              <a:t>sT</a:t>
            </a:r>
            <a:r>
              <a:rPr lang="en-US" sz="2200" dirty="0">
                <a:cs typeface="Lucida Sans Unicode" panose="020B0602030504020204" pitchFamily="34" charset="0"/>
              </a:rPr>
              <a:t>, the FOL(=) applied theory that characterizes the structure</a:t>
            </a:r>
          </a:p>
          <a:p>
            <a:r>
              <a:rPr lang="en-US" sz="2400" i="1" dirty="0" err="1">
                <a:cs typeface="Lucida Sans Unicode" panose="020B0602030504020204" pitchFamily="34" charset="0"/>
              </a:rPr>
              <a:t>sT</a:t>
            </a:r>
            <a:r>
              <a:rPr lang="en-US" sz="2400" dirty="0">
                <a:cs typeface="Lucida Sans Unicode" panose="020B0602030504020204" pitchFamily="34" charset="0"/>
              </a:rPr>
              <a:t> introduces primitive individuals, functions, and axioms that extend over </a:t>
            </a:r>
            <a:r>
              <a:rPr lang="en-US" sz="2400" i="1" dirty="0" err="1">
                <a:cs typeface="Lucida Sans Unicode" panose="020B0602030504020204" pitchFamily="34" charset="0"/>
              </a:rPr>
              <a:t>sD</a:t>
            </a:r>
            <a:endParaRPr lang="en-US" sz="2400" i="1" dirty="0">
              <a:cs typeface="Lucida Sans Unicode" panose="020B0602030504020204" pitchFamily="34" charset="0"/>
            </a:endParaRPr>
          </a:p>
          <a:p>
            <a:r>
              <a:rPr lang="en-US" sz="2400" dirty="0">
                <a:cs typeface="Lucida Sans Unicode" panose="020B0602030504020204" pitchFamily="34" charset="0"/>
              </a:rPr>
              <a:t>It is not expected to exhibit </a:t>
            </a:r>
            <a:r>
              <a:rPr lang="en-US" sz="2400" i="1" dirty="0" err="1">
                <a:cs typeface="Lucida Sans Unicode" panose="020B0602030504020204" pitchFamily="34" charset="0"/>
              </a:rPr>
              <a:t>sF</a:t>
            </a:r>
            <a:r>
              <a:rPr lang="en-US" sz="2400" dirty="0">
                <a:cs typeface="Lucida Sans Unicode" panose="020B0602030504020204" pitchFamily="34" charset="0"/>
              </a:rPr>
              <a:t>, although it is useful to establish elements of it in the usual manner by </a:t>
            </a:r>
            <a:r>
              <a:rPr lang="en-US" sz="2400" dirty="0" err="1">
                <a:cs typeface="Lucida Sans Unicode" panose="020B0602030504020204" pitchFamily="34" charset="0"/>
              </a:rPr>
              <a:t>namings</a:t>
            </a:r>
            <a:r>
              <a:rPr lang="en-US" sz="2400" dirty="0">
                <a:cs typeface="Lucida Sans Unicode" panose="020B0602030504020204" pitchFamily="34" charset="0"/>
              </a:rPr>
              <a:t>, cases, and recurrences</a:t>
            </a:r>
          </a:p>
          <a:p>
            <a:r>
              <a:rPr lang="en-US" sz="2400" dirty="0">
                <a:cs typeface="Lucida Sans Unicode" panose="020B0602030504020204" pitchFamily="34" charset="0"/>
              </a:rPr>
              <a:t>Well-definedness and extensionality apply: </a:t>
            </a:r>
            <a:r>
              <a:rPr lang="en-US" sz="2400" dirty="0"/>
              <a:t>∀</a:t>
            </a:r>
            <a:r>
              <a:rPr lang="en-US" sz="2400" i="1" dirty="0"/>
              <a:t>x</a:t>
            </a:r>
            <a:r>
              <a:rPr lang="en-US" sz="2400" dirty="0">
                <a:latin typeface="Lucida Sans Unicode" panose="020B0602030504020204" pitchFamily="34" charset="0"/>
              </a:rPr>
              <a:t> </a:t>
            </a:r>
            <a:r>
              <a:rPr lang="en-US" sz="2400" dirty="0"/>
              <a:t>[</a:t>
            </a:r>
            <a:r>
              <a:rPr lang="en-US" sz="2400" i="1" dirty="0"/>
              <a:t>f</a:t>
            </a:r>
            <a:r>
              <a:rPr lang="en-US" sz="2400" dirty="0"/>
              <a:t>(</a:t>
            </a:r>
            <a:r>
              <a:rPr lang="en-US" sz="2400" i="1" dirty="0"/>
              <a:t>x</a:t>
            </a:r>
            <a:r>
              <a:rPr lang="en-US" sz="2400" dirty="0"/>
              <a:t>) = </a:t>
            </a:r>
            <a:r>
              <a:rPr lang="en-US" sz="2400" i="1" dirty="0"/>
              <a:t>g</a:t>
            </a:r>
            <a:r>
              <a:rPr lang="en-US" sz="2400" dirty="0"/>
              <a:t>(</a:t>
            </a:r>
            <a:r>
              <a:rPr lang="en-US" sz="2400" i="1" dirty="0"/>
              <a:t>x</a:t>
            </a:r>
            <a:r>
              <a:rPr lang="en-US" sz="2400" dirty="0"/>
              <a:t>)] implies that formulations of </a:t>
            </a:r>
            <a:r>
              <a:rPr lang="en-US" sz="2400" i="1" dirty="0"/>
              <a:t>f</a:t>
            </a:r>
            <a:r>
              <a:rPr lang="en-US" sz="2400" dirty="0"/>
              <a:t> and </a:t>
            </a:r>
            <a:r>
              <a:rPr lang="en-US" sz="2400" i="1" dirty="0"/>
              <a:t>g</a:t>
            </a:r>
            <a:r>
              <a:rPr lang="en-US" sz="2400" dirty="0"/>
              <a:t> in </a:t>
            </a:r>
            <a:r>
              <a:rPr lang="en-US" sz="2400" i="1" dirty="0" err="1"/>
              <a:t>sT</a:t>
            </a:r>
            <a:r>
              <a:rPr lang="en-US" sz="2400" dirty="0"/>
              <a:t> distinguish the same function in </a:t>
            </a:r>
            <a:r>
              <a:rPr lang="en-US" sz="2400" i="1" dirty="0" err="1"/>
              <a:t>sF</a:t>
            </a:r>
            <a:r>
              <a:rPr lang="en-US" sz="2400" dirty="0" err="1"/>
              <a:t>.</a:t>
            </a:r>
            <a:endParaRPr lang="en-US" sz="2400" i="1" dirty="0">
              <a:cs typeface="Lucida Sans Unicode" panose="020B0602030504020204" pitchFamily="34" charset="0"/>
            </a:endParaRPr>
          </a:p>
          <a:p>
            <a:r>
              <a:rPr lang="en-US" sz="2400" dirty="0">
                <a:cs typeface="Lucida Sans Unicode" panose="020B0602030504020204" pitchFamily="34" charset="0"/>
              </a:rPr>
              <a:t>For denumerable </a:t>
            </a:r>
            <a:r>
              <a:rPr lang="en-US" sz="2400" i="1" dirty="0" err="1">
                <a:cs typeface="Lucida Sans Unicode" panose="020B0602030504020204" pitchFamily="34" charset="0"/>
              </a:rPr>
              <a:t>sD</a:t>
            </a:r>
            <a:r>
              <a:rPr lang="en-US" sz="2400" dirty="0">
                <a:cs typeface="Lucida Sans Unicode" panose="020B0602030504020204" pitchFamily="34" charset="0"/>
              </a:rPr>
              <a:t>, establish canonical forms for differentiation of the individuals in the terms of </a:t>
            </a:r>
            <a:r>
              <a:rPr lang="en-US" sz="2400" i="1" dirty="0" err="1">
                <a:cs typeface="Lucida Sans Unicode" panose="020B0602030504020204" pitchFamily="34" charset="0"/>
              </a:rPr>
              <a:t>sT</a:t>
            </a:r>
            <a:r>
              <a:rPr lang="en-US" sz="2400" dirty="0" err="1">
                <a:cs typeface="Lucida Sans Unicode" panose="020B0602030504020204" pitchFamily="34" charset="0"/>
              </a:rPr>
              <a:t>.</a:t>
            </a:r>
            <a:r>
              <a:rPr lang="en-US" sz="2400" dirty="0">
                <a:cs typeface="Lucida Sans Unicode" panose="020B0602030504020204" pitchFamily="34" charset="0"/>
              </a:rPr>
              <a:t>  </a:t>
            </a:r>
            <a:r>
              <a:rPr lang="en-US" sz="2400" i="1" dirty="0">
                <a:cs typeface="Lucida Sans Unicode" panose="020B0602030504020204" pitchFamily="34" charset="0"/>
              </a:rPr>
              <a:t>Bonus</a:t>
            </a:r>
            <a:r>
              <a:rPr lang="en-US" sz="2400" dirty="0">
                <a:cs typeface="Lucida Sans Unicode" panose="020B0602030504020204" pitchFamily="34" charset="0"/>
              </a:rPr>
              <a:t>: canonical-form context-free grammars</a:t>
            </a:r>
          </a:p>
          <a:p>
            <a:r>
              <a:rPr lang="en-US" sz="2400" dirty="0">
                <a:cs typeface="Lucida Sans Unicode" panose="020B0602030504020204" pitchFamily="34" charset="0"/>
              </a:rPr>
              <a:t>Structural induction</a:t>
            </a:r>
            <a:endParaRPr lang="en-US" sz="24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i="1" dirty="0">
              <a:latin typeface="Lucida Sans Unicode" panose="020B0602030504020204" pitchFamily="34" charset="0"/>
              <a:cs typeface="Lucida Sans Unicode" panose="020B0602030504020204" pitchFamily="34" charset="0"/>
            </a:endParaRPr>
          </a:p>
          <a:p>
            <a:pPr marL="457200" lvl="1" indent="0">
              <a:buNone/>
            </a:pPr>
            <a:endParaRPr lang="en-US" dirty="0"/>
          </a:p>
          <a:p>
            <a:endParaRPr lang="en-US" dirty="0"/>
          </a:p>
        </p:txBody>
      </p:sp>
    </p:spTree>
    <p:extLst>
      <p:ext uri="{BB962C8B-B14F-4D97-AF65-F5344CB8AC3E}">
        <p14:creationId xmlns:p14="http://schemas.microsoft.com/office/powerpoint/2010/main" val="2176589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3EB0-50BC-4766-9FF8-FD655D7B2DCE}"/>
              </a:ext>
            </a:extLst>
          </p:cNvPr>
          <p:cNvSpPr>
            <a:spLocks noGrp="1"/>
          </p:cNvSpPr>
          <p:nvPr>
            <p:ph type="title"/>
          </p:nvPr>
        </p:nvSpPr>
        <p:spPr>
          <a:xfrm>
            <a:off x="838200" y="522515"/>
            <a:ext cx="10515600" cy="968828"/>
          </a:xfrm>
        </p:spPr>
        <p:txBody>
          <a:bodyPr>
            <a:normAutofit fontScale="90000"/>
          </a:bodyPr>
          <a:lstStyle/>
          <a:p>
            <a:pPr algn="ctr"/>
            <a:r>
              <a:rPr lang="en-US" sz="3600" b="1" i="1" dirty="0"/>
              <a:t>4. Interpretations and Representations</a:t>
            </a:r>
            <a:br>
              <a:rPr lang="en-US" dirty="0"/>
            </a:br>
            <a:endParaRPr lang="en-US" dirty="0"/>
          </a:p>
        </p:txBody>
      </p:sp>
      <p:sp>
        <p:nvSpPr>
          <p:cNvPr id="3" name="Content Placeholder 2">
            <a:extLst>
              <a:ext uri="{FF2B5EF4-FFF2-40B4-BE49-F238E27FC236}">
                <a16:creationId xmlns:a16="http://schemas.microsoft.com/office/drawing/2014/main" id="{83C033A4-7833-4877-BA21-E4DFFE28A996}"/>
              </a:ext>
            </a:extLst>
          </p:cNvPr>
          <p:cNvSpPr>
            <a:spLocks noGrp="1"/>
          </p:cNvSpPr>
          <p:nvPr>
            <p:ph idx="1"/>
          </p:nvPr>
        </p:nvSpPr>
        <p:spPr>
          <a:xfrm>
            <a:off x="838200" y="1491343"/>
            <a:ext cx="10515600" cy="4685620"/>
          </a:xfrm>
        </p:spPr>
        <p:txBody>
          <a:bodyPr>
            <a:normAutofit/>
          </a:bodyPr>
          <a:lstStyle/>
          <a:p>
            <a:r>
              <a:rPr lang="en-US" sz="2400" dirty="0"/>
              <a:t>By </a:t>
            </a:r>
            <a:r>
              <a:rPr lang="en-US" sz="2400" b="1" i="1" dirty="0"/>
              <a:t>interpretation</a:t>
            </a:r>
            <a:r>
              <a:rPr lang="en-US" sz="2400" dirty="0"/>
              <a:t> of structure in another, the usual model-theoretic arrangement is intended, without demanding a model</a:t>
            </a:r>
          </a:p>
          <a:p>
            <a:r>
              <a:rPr lang="en-US" sz="2400" dirty="0"/>
              <a:t>Specify how individuals/primitives/axioms of structure </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‹α› are interpreted by corresponding structure ‹β› individuals/functions/predicates such that whatever is logically deducible in ‹α› holds for </a:t>
            </a:r>
            <a:r>
              <a:rPr lang="en-US" sz="2400" i="1" dirty="0">
                <a:effectLst/>
                <a:latin typeface="Calibri" panose="020F0502020204030204" pitchFamily="34" charset="0"/>
                <a:ea typeface="Yu Mincho" panose="02020400000000000000" pitchFamily="18" charset="-128"/>
                <a:cs typeface="Times New Roman" panose="02020603050405020304" pitchFamily="18" charset="0"/>
              </a:rPr>
              <a:t>the counterparts</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 in ‹β›.</a:t>
            </a:r>
          </a:p>
          <a:p>
            <a:r>
              <a:rPr lang="en-US" sz="2400" dirty="0">
                <a:latin typeface="Calibri" panose="020F0502020204030204" pitchFamily="34" charset="0"/>
                <a:ea typeface="Yu Mincho" panose="02020400000000000000" pitchFamily="18" charset="-128"/>
                <a:cs typeface="Times New Roman" panose="02020603050405020304" pitchFamily="18" charset="0"/>
              </a:rPr>
              <a:t>If equality in </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‹α› is sent to equality in a ‹β› interpretation, the interpretation is an implementation</a:t>
            </a:r>
            <a:r>
              <a:rPr lang="en-US" sz="2400" dirty="0">
                <a:latin typeface="Calibri" panose="020F0502020204030204" pitchFamily="34" charset="0"/>
                <a:ea typeface="Yu Mincho" panose="02020400000000000000" pitchFamily="18" charset="-128"/>
                <a:cs typeface="Times New Roman" panose="02020603050405020304" pitchFamily="18" charset="0"/>
              </a:rPr>
              <a:t>,</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 otherwise it is a simulation (after Thomas Forster) </a:t>
            </a:r>
          </a:p>
          <a:p>
            <a:r>
              <a:rPr lang="en-US" sz="2400" dirty="0">
                <a:latin typeface="Calibri" panose="020F0502020204030204" pitchFamily="34" charset="0"/>
                <a:ea typeface="Yu Mincho" panose="02020400000000000000" pitchFamily="18" charset="-128"/>
                <a:cs typeface="Times New Roman" panose="02020603050405020304" pitchFamily="18" charset="0"/>
              </a:rPr>
              <a:t>Show mathematical engineering with equivalence classes to avoid constraints in </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‹β› to </a:t>
            </a:r>
            <a:r>
              <a:rPr lang="en-US" sz="2400" dirty="0">
                <a:latin typeface="Calibri" panose="020F0502020204030204" pitchFamily="34" charset="0"/>
                <a:ea typeface="Yu Mincho" panose="02020400000000000000" pitchFamily="18" charset="-128"/>
                <a:cs typeface="Times New Roman" panose="02020603050405020304" pitchFamily="18" charset="0"/>
              </a:rPr>
              <a:t>confine the</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 interpretation of ‹α›.</a:t>
            </a:r>
          </a:p>
          <a:p>
            <a:r>
              <a:rPr lang="en-US" sz="2400" dirty="0">
                <a:effectLst/>
                <a:latin typeface="Calibri" panose="020F0502020204030204" pitchFamily="34" charset="0"/>
                <a:ea typeface="Yu Mincho" panose="02020400000000000000" pitchFamily="18" charset="-128"/>
                <a:cs typeface="Times New Roman" panose="02020603050405020304" pitchFamily="18" charset="0"/>
              </a:rPr>
              <a:t>Successful </a:t>
            </a:r>
            <a:r>
              <a:rPr lang="en-US" sz="2400" b="1" i="1" dirty="0">
                <a:effectLst/>
                <a:latin typeface="Calibri" panose="020F0502020204030204" pitchFamily="34" charset="0"/>
                <a:ea typeface="Yu Mincho" panose="02020400000000000000" pitchFamily="18" charset="-128"/>
                <a:cs typeface="Times New Roman" panose="02020603050405020304" pitchFamily="18" charset="0"/>
              </a:rPr>
              <a:t>representation</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 is achieved when there is a straightforward determination of α</a:t>
            </a:r>
            <a:r>
              <a:rPr lang="en-US" sz="2400" i="1" dirty="0">
                <a:effectLst/>
                <a:latin typeface="Calibri" panose="020F0502020204030204" pitchFamily="34" charset="0"/>
                <a:ea typeface="Yu Mincho" panose="02020400000000000000" pitchFamily="18" charset="-128"/>
                <a:cs typeface="Times New Roman" panose="02020603050405020304" pitchFamily="18" charset="0"/>
              </a:rPr>
              <a:t>D</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 individuals </a:t>
            </a:r>
            <a:r>
              <a:rPr lang="en-US" sz="2400" dirty="0">
                <a:latin typeface="Calibri" panose="020F0502020204030204" pitchFamily="34" charset="0"/>
                <a:ea typeface="Yu Mincho" panose="02020400000000000000" pitchFamily="18" charset="-128"/>
                <a:cs typeface="Times New Roman" panose="02020603050405020304" pitchFamily="18" charset="0"/>
              </a:rPr>
              <a:t>corresponding to functionally-determined </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β</a:t>
            </a:r>
            <a:r>
              <a:rPr lang="en-US" sz="2400" i="1" dirty="0">
                <a:effectLst/>
                <a:latin typeface="Calibri" panose="020F0502020204030204" pitchFamily="34" charset="0"/>
                <a:ea typeface="Yu Mincho" panose="02020400000000000000" pitchFamily="18" charset="-128"/>
                <a:cs typeface="Times New Roman" panose="02020603050405020304" pitchFamily="18" charset="0"/>
              </a:rPr>
              <a:t>D</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 individuals (perhaps </a:t>
            </a:r>
            <a:r>
              <a:rPr lang="en-US" sz="2400" dirty="0">
                <a:latin typeface="Calibri" panose="020F0502020204030204" pitchFamily="34" charset="0"/>
                <a:ea typeface="Yu Mincho" panose="02020400000000000000" pitchFamily="18" charset="-128"/>
                <a:cs typeface="Times New Roman" panose="02020603050405020304" pitchFamily="18" charset="0"/>
              </a:rPr>
              <a:t>with</a:t>
            </a:r>
            <a:r>
              <a:rPr lang="en-US" sz="2400" dirty="0">
                <a:effectLst/>
                <a:latin typeface="Calibri" panose="020F0502020204030204" pitchFamily="34" charset="0"/>
                <a:ea typeface="Yu Mincho" panose="02020400000000000000" pitchFamily="18" charset="-128"/>
                <a:cs typeface="Times New Roman" panose="02020603050405020304" pitchFamily="18" charset="0"/>
              </a:rPr>
              <a:t> canonical forms) in the ‹β› interpretation.</a:t>
            </a:r>
          </a:p>
          <a:p>
            <a:endParaRPr lang="en-US" sz="2400" i="1" dirty="0"/>
          </a:p>
        </p:txBody>
      </p:sp>
    </p:spTree>
    <p:extLst>
      <p:ext uri="{BB962C8B-B14F-4D97-AF65-F5344CB8AC3E}">
        <p14:creationId xmlns:p14="http://schemas.microsoft.com/office/powerpoint/2010/main" val="2148975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3EB0-50BC-4766-9FF8-FD655D7B2DCE}"/>
              </a:ext>
            </a:extLst>
          </p:cNvPr>
          <p:cNvSpPr>
            <a:spLocks noGrp="1"/>
          </p:cNvSpPr>
          <p:nvPr>
            <p:ph type="title"/>
          </p:nvPr>
        </p:nvSpPr>
        <p:spPr>
          <a:xfrm>
            <a:off x="838200" y="522515"/>
            <a:ext cx="10515600" cy="968828"/>
          </a:xfrm>
        </p:spPr>
        <p:txBody>
          <a:bodyPr>
            <a:normAutofit fontScale="90000"/>
          </a:bodyPr>
          <a:lstStyle/>
          <a:p>
            <a:pPr algn="ctr"/>
            <a:r>
              <a:rPr lang="en-US" sz="3600" b="1" i="1" dirty="0"/>
              <a:t>5. Computational Interpretations, Models, and Stored Programs</a:t>
            </a:r>
            <a:br>
              <a:rPr lang="en-US" dirty="0"/>
            </a:br>
            <a:endParaRPr lang="en-US" dirty="0"/>
          </a:p>
        </p:txBody>
      </p:sp>
      <p:sp>
        <p:nvSpPr>
          <p:cNvPr id="3" name="Content Placeholder 2">
            <a:extLst>
              <a:ext uri="{FF2B5EF4-FFF2-40B4-BE49-F238E27FC236}">
                <a16:creationId xmlns:a16="http://schemas.microsoft.com/office/drawing/2014/main" id="{83C033A4-7833-4877-BA21-E4DFFE28A996}"/>
              </a:ext>
            </a:extLst>
          </p:cNvPr>
          <p:cNvSpPr>
            <a:spLocks noGrp="1"/>
          </p:cNvSpPr>
          <p:nvPr>
            <p:ph idx="1"/>
          </p:nvPr>
        </p:nvSpPr>
        <p:spPr>
          <a:xfrm>
            <a:off x="838200" y="1491343"/>
            <a:ext cx="10515600" cy="4685620"/>
          </a:xfrm>
        </p:spPr>
        <p:txBody>
          <a:bodyPr>
            <a:normAutofit/>
          </a:bodyPr>
          <a:lstStyle/>
          <a:p>
            <a:r>
              <a:rPr lang="en-US" sz="2400" dirty="0">
                <a:cs typeface="Lucida Sans Unicode" panose="020B0602030504020204" pitchFamily="34" charset="0"/>
              </a:rPr>
              <a:t>Posit that computational interpretation is transitive: If </a:t>
            </a:r>
            <a:r>
              <a:rPr lang="en-US" sz="2400" dirty="0">
                <a:effectLst/>
                <a:ea typeface="Yu Mincho" panose="02020400000000000000" pitchFamily="18" charset="-128"/>
                <a:cs typeface="Times New Roman" panose="02020603050405020304" pitchFamily="18" charset="0"/>
              </a:rPr>
              <a:t>‹β› has a computational interpretation, so does a representation of ‹α› in ‹β›, and hence ‹α›. </a:t>
            </a:r>
          </a:p>
          <a:p>
            <a:r>
              <a:rPr lang="en-US" sz="2400" dirty="0">
                <a:ea typeface="Yu Mincho" panose="02020400000000000000" pitchFamily="18" charset="-128"/>
                <a:cs typeface="Times New Roman" panose="02020603050405020304" pitchFamily="18" charset="0"/>
              </a:rPr>
              <a:t>A structure </a:t>
            </a:r>
            <a:r>
              <a:rPr lang="en-US" sz="2400" dirty="0">
                <a:effectLst/>
                <a:ea typeface="Yu Mincho" panose="02020400000000000000" pitchFamily="18" charset="-128"/>
                <a:cs typeface="Times New Roman" panose="02020603050405020304" pitchFamily="18" charset="0"/>
              </a:rPr>
              <a:t>‹</a:t>
            </a:r>
            <a:r>
              <a:rPr lang="el-GR" sz="2400" dirty="0">
                <a:latin typeface="Calibri" panose="020F0502020204030204" pitchFamily="34" charset="0"/>
              </a:rPr>
              <a:t>μ</a:t>
            </a:r>
            <a:r>
              <a:rPr lang="en-US" sz="2400" dirty="0">
                <a:effectLst/>
                <a:ea typeface="Yu Mincho" panose="02020400000000000000" pitchFamily="18" charset="-128"/>
                <a:cs typeface="Times New Roman" panose="02020603050405020304" pitchFamily="18" charset="0"/>
              </a:rPr>
              <a:t>› is an abstract (stored-program)</a:t>
            </a:r>
            <a:r>
              <a:rPr lang="en-US" sz="2400" dirty="0">
                <a:ea typeface="Yu Mincho" panose="02020400000000000000" pitchFamily="18" charset="-128"/>
                <a:cs typeface="Times New Roman" panose="02020603050405020304" pitchFamily="18" charset="0"/>
              </a:rPr>
              <a:t> </a:t>
            </a:r>
            <a:r>
              <a:rPr lang="en-US" sz="2400" b="1" dirty="0">
                <a:ea typeface="Yu Mincho" panose="02020400000000000000" pitchFamily="18" charset="-128"/>
                <a:cs typeface="Times New Roman" panose="02020603050405020304" pitchFamily="18" charset="0"/>
              </a:rPr>
              <a:t>computational model </a:t>
            </a:r>
            <a:r>
              <a:rPr lang="en-US" sz="2400" dirty="0">
                <a:ea typeface="Yu Mincho" panose="02020400000000000000" pitchFamily="18" charset="-128"/>
                <a:cs typeface="Times New Roman" panose="02020603050405020304" pitchFamily="18" charset="0"/>
              </a:rPr>
              <a:t>if there is a  </a:t>
            </a:r>
            <a:r>
              <a:rPr lang="el-GR" sz="2400" dirty="0">
                <a:latin typeface="Calibri" panose="020F0502020204030204" pitchFamily="34" charset="0"/>
              </a:rPr>
              <a:t>μ</a:t>
            </a:r>
            <a:r>
              <a:rPr lang="en-US" sz="2400" i="1" dirty="0">
                <a:latin typeface="Calibri" panose="020F0502020204030204" pitchFamily="34" charset="0"/>
              </a:rPr>
              <a:t>T-</a:t>
            </a:r>
            <a:r>
              <a:rPr lang="en-US" sz="2400" dirty="0">
                <a:latin typeface="Calibri" panose="020F0502020204030204" pitchFamily="34" charset="0"/>
              </a:rPr>
              <a:t>determined</a:t>
            </a:r>
            <a:r>
              <a:rPr lang="el-GR" sz="2400" dirty="0">
                <a:latin typeface="Calibri" panose="020F0502020204030204" pitchFamily="34" charset="0"/>
              </a:rPr>
              <a:t> </a:t>
            </a:r>
            <a:r>
              <a:rPr lang="en-US" sz="2400" dirty="0">
                <a:ea typeface="Yu Mincho" panose="02020400000000000000" pitchFamily="18" charset="-128"/>
                <a:cs typeface="Times New Roman" panose="02020603050405020304" pitchFamily="18" charset="0"/>
              </a:rPr>
              <a:t>universal function, say </a:t>
            </a:r>
            <a:r>
              <a:rPr lang="el-GR" sz="2400" dirty="0">
                <a:latin typeface="Calibri" panose="020F0502020204030204" pitchFamily="34" charset="0"/>
              </a:rPr>
              <a:t>μ</a:t>
            </a:r>
            <a:r>
              <a:rPr lang="en-US" sz="2400" dirty="0">
                <a:latin typeface="Calibri" panose="020F0502020204030204" pitchFamily="34" charset="0"/>
              </a:rPr>
              <a:t>.App(</a:t>
            </a:r>
            <a:r>
              <a:rPr lang="en-US" sz="2400" i="1" dirty="0" err="1">
                <a:latin typeface="Calibri" panose="020F0502020204030204" pitchFamily="34" charset="0"/>
              </a:rPr>
              <a:t>p</a:t>
            </a:r>
            <a:r>
              <a:rPr lang="en-US" sz="2400" dirty="0" err="1">
                <a:latin typeface="Calibri" panose="020F0502020204030204" pitchFamily="34" charset="0"/>
              </a:rPr>
              <a:t>,</a:t>
            </a:r>
            <a:r>
              <a:rPr lang="en-US" sz="2400" i="1" dirty="0" err="1">
                <a:latin typeface="Calibri" panose="020F0502020204030204" pitchFamily="34" charset="0"/>
              </a:rPr>
              <a:t>x</a:t>
            </a:r>
            <a:r>
              <a:rPr lang="en-US" sz="2400" dirty="0">
                <a:latin typeface="Calibri" panose="020F0502020204030204" pitchFamily="34" charset="0"/>
              </a:rPr>
              <a:t>), such that for every computable function </a:t>
            </a:r>
            <a:r>
              <a:rPr lang="en-US" sz="2400" i="1" dirty="0">
                <a:latin typeface="Calibri" panose="020F0502020204030204" pitchFamily="34" charset="0"/>
              </a:rPr>
              <a:t>f(x)</a:t>
            </a:r>
            <a:r>
              <a:rPr lang="en-US" sz="2400" dirty="0">
                <a:latin typeface="Calibri" panose="020F0502020204030204" pitchFamily="34" charset="0"/>
              </a:rPr>
              <a:t> in</a:t>
            </a:r>
            <a:r>
              <a:rPr lang="el-GR" sz="2400" dirty="0">
                <a:latin typeface="Calibri" panose="020F0502020204030204" pitchFamily="34" charset="0"/>
              </a:rPr>
              <a:t> μ</a:t>
            </a:r>
            <a:r>
              <a:rPr lang="en-US" sz="2400" i="1" dirty="0">
                <a:latin typeface="Calibri" panose="020F0502020204030204" pitchFamily="34" charset="0"/>
              </a:rPr>
              <a:t>F,</a:t>
            </a:r>
            <a:r>
              <a:rPr lang="en-US" sz="2400" dirty="0">
                <a:latin typeface="Calibri" panose="020F0502020204030204" pitchFamily="34" charset="0"/>
              </a:rPr>
              <a:t> </a:t>
            </a:r>
            <a:r>
              <a:rPr lang="en-US" sz="2400" dirty="0"/>
              <a:t>∃</a:t>
            </a:r>
            <a:r>
              <a:rPr lang="en-US" sz="2400" i="1" dirty="0"/>
              <a:t>p </a:t>
            </a:r>
            <a:r>
              <a:rPr lang="en-US" sz="2400" dirty="0"/>
              <a:t>∀</a:t>
            </a:r>
            <a:r>
              <a:rPr lang="en-US" sz="2400" i="1" dirty="0"/>
              <a:t>x</a:t>
            </a:r>
            <a:r>
              <a:rPr lang="en-US" sz="2400" dirty="0"/>
              <a:t> [</a:t>
            </a:r>
            <a:r>
              <a:rPr lang="el-GR" sz="2400" dirty="0">
                <a:latin typeface="Calibri" panose="020F0502020204030204" pitchFamily="34" charset="0"/>
              </a:rPr>
              <a:t>μ</a:t>
            </a:r>
            <a:r>
              <a:rPr lang="en-US" sz="2400" dirty="0">
                <a:latin typeface="Calibri" panose="020F0502020204030204" pitchFamily="34" charset="0"/>
              </a:rPr>
              <a:t>.App(</a:t>
            </a:r>
            <a:r>
              <a:rPr lang="en-US" sz="2400" i="1" dirty="0" err="1">
                <a:latin typeface="Calibri" panose="020F0502020204030204" pitchFamily="34" charset="0"/>
              </a:rPr>
              <a:t>p</a:t>
            </a:r>
            <a:r>
              <a:rPr lang="en-US" sz="2400" dirty="0" err="1">
                <a:latin typeface="Calibri" panose="020F0502020204030204" pitchFamily="34" charset="0"/>
              </a:rPr>
              <a:t>,</a:t>
            </a:r>
            <a:r>
              <a:rPr lang="en-US" sz="2400" i="1" dirty="0" err="1">
                <a:latin typeface="Calibri" panose="020F0502020204030204" pitchFamily="34" charset="0"/>
              </a:rPr>
              <a:t>x</a:t>
            </a:r>
            <a:r>
              <a:rPr lang="en-US" sz="2400" dirty="0">
                <a:latin typeface="Calibri" panose="020F0502020204030204" pitchFamily="34" charset="0"/>
              </a:rPr>
              <a:t>) = </a:t>
            </a:r>
            <a:r>
              <a:rPr lang="en-US" sz="2400" i="1" dirty="0">
                <a:latin typeface="Calibri" panose="020F0502020204030204" pitchFamily="34" charset="0"/>
              </a:rPr>
              <a:t>f</a:t>
            </a:r>
            <a:r>
              <a:rPr lang="en-US" sz="2400" dirty="0">
                <a:latin typeface="Calibri" panose="020F0502020204030204" pitchFamily="34" charset="0"/>
              </a:rPr>
              <a:t>(</a:t>
            </a:r>
            <a:r>
              <a:rPr lang="en-US" sz="2400" i="1" dirty="0">
                <a:latin typeface="Calibri" panose="020F0502020204030204" pitchFamily="34" charset="0"/>
              </a:rPr>
              <a:t>x</a:t>
            </a:r>
            <a:r>
              <a:rPr lang="en-US" sz="2400" dirty="0">
                <a:latin typeface="Calibri" panose="020F0502020204030204" pitchFamily="34" charset="0"/>
              </a:rPr>
              <a:t>)] is the case for </a:t>
            </a:r>
            <a:r>
              <a:rPr lang="el-GR" sz="2400" dirty="0">
                <a:latin typeface="Calibri" panose="020F0502020204030204" pitchFamily="34" charset="0"/>
              </a:rPr>
              <a:t>μ</a:t>
            </a:r>
            <a:r>
              <a:rPr lang="en-US" sz="2400" i="1" dirty="0">
                <a:latin typeface="Calibri" panose="020F0502020204030204" pitchFamily="34" charset="0"/>
              </a:rPr>
              <a:t>D</a:t>
            </a:r>
            <a:r>
              <a:rPr lang="en-US" sz="2400" dirty="0">
                <a:latin typeface="Calibri" panose="020F0502020204030204" pitchFamily="34" charset="0"/>
              </a:rPr>
              <a:t> denumerable. </a:t>
            </a:r>
          </a:p>
          <a:p>
            <a:r>
              <a:rPr lang="el-GR" sz="2400" dirty="0">
                <a:latin typeface="Calibri" panose="020F0502020204030204" pitchFamily="34" charset="0"/>
              </a:rPr>
              <a:t>μ</a:t>
            </a:r>
            <a:r>
              <a:rPr lang="en-US" sz="2400" dirty="0">
                <a:latin typeface="Calibri" panose="020F0502020204030204" pitchFamily="34" charset="0"/>
              </a:rPr>
              <a:t>.App(</a:t>
            </a:r>
            <a:r>
              <a:rPr lang="en-US" sz="2400" i="1" dirty="0" err="1">
                <a:latin typeface="Calibri" panose="020F0502020204030204" pitchFamily="34" charset="0"/>
              </a:rPr>
              <a:t>p</a:t>
            </a:r>
            <a:r>
              <a:rPr lang="en-US" sz="2400" dirty="0" err="1">
                <a:latin typeface="Calibri" panose="020F0502020204030204" pitchFamily="34" charset="0"/>
              </a:rPr>
              <a:t>,</a:t>
            </a:r>
            <a:r>
              <a:rPr lang="en-US" sz="2400" i="1" dirty="0" err="1">
                <a:latin typeface="Calibri" panose="020F0502020204030204" pitchFamily="34" charset="0"/>
              </a:rPr>
              <a:t>x</a:t>
            </a:r>
            <a:r>
              <a:rPr lang="en-US" sz="2400" dirty="0">
                <a:latin typeface="Calibri" panose="020F0502020204030204" pitchFamily="34" charset="0"/>
              </a:rPr>
              <a:t>) is a direct computational interpretation of </a:t>
            </a:r>
            <a:r>
              <a:rPr lang="en-US" sz="2400" dirty="0">
                <a:effectLst/>
                <a:ea typeface="Yu Mincho" panose="02020400000000000000" pitchFamily="18" charset="-128"/>
                <a:cs typeface="Times New Roman" panose="02020603050405020304" pitchFamily="18" charset="0"/>
              </a:rPr>
              <a:t>‹</a:t>
            </a:r>
            <a:r>
              <a:rPr lang="el-GR" sz="2400" dirty="0">
                <a:latin typeface="Calibri" panose="020F0502020204030204" pitchFamily="34" charset="0"/>
              </a:rPr>
              <a:t>μ</a:t>
            </a:r>
            <a:r>
              <a:rPr lang="en-US" sz="2400" dirty="0">
                <a:effectLst/>
                <a:ea typeface="Yu Mincho" panose="02020400000000000000" pitchFamily="18" charset="-128"/>
                <a:cs typeface="Times New Roman" panose="02020603050405020304" pitchFamily="18" charset="0"/>
              </a:rPr>
              <a:t>› in this case.  It is an abstraction of stored-program computation and there are useful examples in practical applications of computers (compiling, interpreting, etc.).</a:t>
            </a:r>
          </a:p>
          <a:p>
            <a:r>
              <a:rPr lang="en-US" sz="2400" dirty="0">
                <a:ea typeface="Yu Mincho" panose="02020400000000000000" pitchFamily="18" charset="-128"/>
                <a:cs typeface="Times New Roman" panose="02020603050405020304" pitchFamily="18" charset="0"/>
              </a:rPr>
              <a:t>Church-Turing universality is established by explanation of exactly what the claim is and that other universal models are demonstrable by simulations in a </a:t>
            </a:r>
            <a:r>
              <a:rPr lang="en-US" sz="2400" dirty="0">
                <a:effectLst/>
                <a:ea typeface="Yu Mincho" panose="02020400000000000000" pitchFamily="18" charset="-128"/>
                <a:cs typeface="Times New Roman" panose="02020603050405020304" pitchFamily="18" charset="0"/>
              </a:rPr>
              <a:t>‹</a:t>
            </a:r>
            <a:r>
              <a:rPr lang="el-GR" sz="2400" dirty="0">
                <a:latin typeface="Calibri" panose="020F0502020204030204" pitchFamily="34" charset="0"/>
              </a:rPr>
              <a:t>μ</a:t>
            </a:r>
            <a:r>
              <a:rPr lang="en-US" sz="2400" dirty="0">
                <a:effectLst/>
                <a:ea typeface="Yu Mincho" panose="02020400000000000000" pitchFamily="18" charset="-128"/>
                <a:cs typeface="Times New Roman" panose="02020603050405020304" pitchFamily="18" charset="0"/>
              </a:rPr>
              <a:t>›. </a:t>
            </a:r>
          </a:p>
          <a:p>
            <a:r>
              <a:rPr lang="en-US" sz="2400" dirty="0">
                <a:cs typeface="Lucida Sans Unicode" panose="020B0602030504020204" pitchFamily="34" charset="0"/>
              </a:rPr>
              <a:t>Intractability can be introduced via satisfiability and then P =? NP informally.</a:t>
            </a:r>
          </a:p>
          <a:p>
            <a:r>
              <a:rPr lang="en-US" sz="2400" dirty="0">
                <a:cs typeface="Lucida Sans Unicode" panose="020B0602030504020204" pitchFamily="34" charset="0"/>
              </a:rPr>
              <a:t>In all of this so far, we remain confined to a world of abstract entities.</a:t>
            </a:r>
          </a:p>
          <a:p>
            <a:endParaRPr lang="en-US" sz="24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i="1" dirty="0">
              <a:latin typeface="Lucida Sans Unicode" panose="020B0602030504020204" pitchFamily="34" charset="0"/>
              <a:cs typeface="Lucida Sans Unicode" panose="020B0602030504020204" pitchFamily="34" charset="0"/>
            </a:endParaRPr>
          </a:p>
          <a:p>
            <a:pPr marL="457200" lvl="1" indent="0">
              <a:buNone/>
            </a:pPr>
            <a:endParaRPr lang="en-US" dirty="0"/>
          </a:p>
          <a:p>
            <a:endParaRPr lang="en-US" dirty="0"/>
          </a:p>
        </p:txBody>
      </p:sp>
    </p:spTree>
    <p:extLst>
      <p:ext uri="{BB962C8B-B14F-4D97-AF65-F5344CB8AC3E}">
        <p14:creationId xmlns:p14="http://schemas.microsoft.com/office/powerpoint/2010/main" val="3629935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3EB0-50BC-4766-9FF8-FD655D7B2DCE}"/>
              </a:ext>
            </a:extLst>
          </p:cNvPr>
          <p:cNvSpPr>
            <a:spLocks noGrp="1"/>
          </p:cNvSpPr>
          <p:nvPr>
            <p:ph type="title"/>
          </p:nvPr>
        </p:nvSpPr>
        <p:spPr>
          <a:xfrm>
            <a:off x="838200" y="522515"/>
            <a:ext cx="10515600" cy="751114"/>
          </a:xfrm>
        </p:spPr>
        <p:txBody>
          <a:bodyPr>
            <a:normAutofit/>
          </a:bodyPr>
          <a:lstStyle/>
          <a:p>
            <a:pPr algn="ctr"/>
            <a:r>
              <a:rPr lang="en-US" sz="3200" b="1" i="1" dirty="0"/>
              <a:t>6. Interpretations and Representing Worlds</a:t>
            </a:r>
            <a:endParaRPr lang="en-US" sz="3200" dirty="0"/>
          </a:p>
        </p:txBody>
      </p:sp>
      <p:sp>
        <p:nvSpPr>
          <p:cNvPr id="3" name="Content Placeholder 2">
            <a:extLst>
              <a:ext uri="{FF2B5EF4-FFF2-40B4-BE49-F238E27FC236}">
                <a16:creationId xmlns:a16="http://schemas.microsoft.com/office/drawing/2014/main" id="{83C033A4-7833-4877-BA21-E4DFFE28A996}"/>
              </a:ext>
            </a:extLst>
          </p:cNvPr>
          <p:cNvSpPr>
            <a:spLocks noGrp="1"/>
          </p:cNvSpPr>
          <p:nvPr>
            <p:ph idx="1"/>
          </p:nvPr>
        </p:nvSpPr>
        <p:spPr>
          <a:xfrm>
            <a:off x="838200" y="1273629"/>
            <a:ext cx="10515600" cy="5453742"/>
          </a:xfrm>
        </p:spPr>
        <p:txBody>
          <a:bodyPr>
            <a:normAutofit fontScale="92500" lnSpcReduction="10000"/>
          </a:bodyPr>
          <a:lstStyle/>
          <a:p>
            <a:pPr marL="457200" lvl="1" indent="0">
              <a:buNone/>
            </a:pPr>
            <a:r>
              <a:rPr lang="en-US" sz="2000" i="1" dirty="0">
                <a:cs typeface="Lucida Sans Unicode" panose="020B0602030504020204" pitchFamily="34" charset="0"/>
              </a:rPr>
              <a:t>As far as the laws of mathematics refer to reality, they are not certain; and as far as they are certain, they do not refer to reality</a:t>
            </a:r>
            <a:r>
              <a:rPr lang="en-US" sz="2000" dirty="0">
                <a:cs typeface="Lucida Sans Unicode" panose="020B0602030504020204" pitchFamily="34" charset="0"/>
              </a:rPr>
              <a:t>.</a:t>
            </a:r>
          </a:p>
          <a:p>
            <a:pPr marL="457200" lvl="1" indent="0" algn="r">
              <a:buNone/>
            </a:pPr>
            <a:r>
              <a:rPr lang="en-US" sz="2000" dirty="0">
                <a:cs typeface="Lucida Sans Unicode" panose="020B0602030504020204" pitchFamily="34" charset="0"/>
              </a:rPr>
              <a:t>Albert Einstein, 1921</a:t>
            </a:r>
          </a:p>
          <a:p>
            <a:r>
              <a:rPr lang="en-US" sz="2600" dirty="0">
                <a:cs typeface="Lucida Sans Unicode" panose="020B0602030504020204" pitchFamily="34" charset="0"/>
              </a:rPr>
              <a:t>Emphasize that mathematical structures are not mechanisms.  </a:t>
            </a:r>
          </a:p>
          <a:p>
            <a:r>
              <a:rPr lang="en-US" sz="2600" dirty="0">
                <a:cs typeface="Lucida Sans Unicode" panose="020B0602030504020204" pitchFamily="34" charset="0"/>
              </a:rPr>
              <a:t>Explain that while much about computers can be simulated and verified using logical and mathematical representations, that is still abstraction above the actual electrical and physical nature of digital computers.  </a:t>
            </a:r>
          </a:p>
          <a:p>
            <a:r>
              <a:rPr lang="en-US" sz="2600" dirty="0">
                <a:cs typeface="Lucida Sans Unicode" panose="020B0602030504020204" pitchFamily="34" charset="0"/>
              </a:rPr>
              <a:t>Even the 0s and 1s are abstractions engineered and represented with extraordinary dependability.  We might better say that the 0s and 1s are manifest in an intended interpretation.</a:t>
            </a:r>
          </a:p>
          <a:p>
            <a:r>
              <a:rPr lang="en-US" sz="2600" dirty="0">
                <a:cs typeface="Lucida Sans Unicode" panose="020B0602030504020204" pitchFamily="34" charset="0"/>
              </a:rPr>
              <a:t>When software development and computer science involve theories of structures in the world, we need to emphasize that such theories do not capture the world entire.  Fidelity to the natural world and human affairs is an empirical challenge, never merely a formal one.</a:t>
            </a:r>
          </a:p>
          <a:p>
            <a:r>
              <a:rPr lang="en-US" sz="2600" dirty="0">
                <a:cs typeface="Lucida Sans Unicode" panose="020B0602030504020204" pitchFamily="34" charset="0"/>
              </a:rPr>
              <a:t>Most of all, we must neither foster nor embrace notions that our world is apprehended by mechanism.</a:t>
            </a:r>
          </a:p>
          <a:p>
            <a:pPr lvl="1"/>
            <a:endParaRPr lang="en-US" sz="20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dirty="0">
              <a:latin typeface="Lucida Sans Unicode" panose="020B0602030504020204" pitchFamily="34" charset="0"/>
              <a:cs typeface="Lucida Sans Unicode" panose="020B0602030504020204" pitchFamily="34" charset="0"/>
            </a:endParaRPr>
          </a:p>
          <a:p>
            <a:pPr lvl="1"/>
            <a:endParaRPr lang="en-US" sz="2000" i="1" dirty="0">
              <a:latin typeface="Lucida Sans Unicode" panose="020B0602030504020204" pitchFamily="34" charset="0"/>
              <a:cs typeface="Lucida Sans Unicode" panose="020B0602030504020204" pitchFamily="34" charset="0"/>
            </a:endParaRPr>
          </a:p>
          <a:p>
            <a:pPr marL="457200" lvl="1" indent="0">
              <a:buNone/>
            </a:pPr>
            <a:endParaRPr lang="en-US" dirty="0"/>
          </a:p>
          <a:p>
            <a:endParaRPr lang="en-US" dirty="0"/>
          </a:p>
        </p:txBody>
      </p:sp>
    </p:spTree>
    <p:extLst>
      <p:ext uri="{BB962C8B-B14F-4D97-AF65-F5344CB8AC3E}">
        <p14:creationId xmlns:p14="http://schemas.microsoft.com/office/powerpoint/2010/main" val="3459654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1692</TotalTime>
  <Words>1043</Words>
  <Application>Microsoft Office PowerPoint</Application>
  <PresentationFormat>Widescreen</PresentationFormat>
  <Paragraphs>76</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Lucida Sans Unicode</vt:lpstr>
      <vt:lpstr>Office Theme</vt:lpstr>
      <vt:lpstr>Logic for CS Undergraduates: A Sketch  Informal Formality - Distinguishing Mathematical, Computational, and the “Natural”</vt:lpstr>
      <vt:lpstr>1. Deduction: Propositional Logic and Truth-Value Semantics </vt:lpstr>
      <vt:lpstr>2. First-Order Logic for Novices: FOL, FOL=, Equational Mostly </vt:lpstr>
      <vt:lpstr>3. First-Order (mostly) Structures Setting up for interpretation and representation</vt:lpstr>
      <vt:lpstr>4. Interpretations and Representations </vt:lpstr>
      <vt:lpstr>5. Computational Interpretations, Models, and Stored Programs </vt:lpstr>
      <vt:lpstr>6. Interpretations and Representing Worlds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 for CS Undergraduates: A Sketch Informal Formality and Distinction of Mathematical Entities from Operational Ones</dc:title>
  <dc:creator>Dennis Hamilton</dc:creator>
  <cp:lastModifiedBy>Dennis Hamilton</cp:lastModifiedBy>
  <cp:revision>85</cp:revision>
  <dcterms:created xsi:type="dcterms:W3CDTF">2022-07-12T15:57:05Z</dcterms:created>
  <dcterms:modified xsi:type="dcterms:W3CDTF">2022-07-29T18:32:30Z</dcterms:modified>
</cp:coreProperties>
</file>